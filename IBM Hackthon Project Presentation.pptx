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8.jpeg" ContentType="image/jpeg"/>
  <Override PartName="/ppt/media/image5.png" ContentType="image/png"/>
  <Override PartName="/ppt/media/image6.png" ContentType="image/png"/>
  <Override PartName="/ppt/media/image7.jpeg" ContentType="image/jpeg"/>
  <Override PartName="/ppt/media/image11.png" ContentType="image/png"/>
  <Override PartName="/ppt/media/image10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84EC288-CBC1-4501-A9DC-5E79007BAE7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200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IN" sz="2400" spc="-1" strike="noStrike">
                <a:latin typeface="Times New Roman"/>
              </a:defRPr>
            </a:lvl1pPr>
          </a:lstStyle>
          <a:p>
            <a:endParaRPr b="0" lang="en-IN" sz="24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b3541"/>
                </a:solidFill>
                <a:latin typeface="Times New Roman"/>
                <a:ea typeface="Times New Roman"/>
              </a:rPr>
              <a:t>· Please create public github repository (Enable Add README  button while creating repository) with format –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b3541"/>
                </a:solidFill>
                <a:latin typeface="Times New Roman"/>
                <a:ea typeface="Times New Roman"/>
              </a:rPr>
              <a:t>Please test and Paste the working  Github URL –</a:t>
            </a:r>
            <a:endParaRPr b="0" lang="en-IN" sz="1100" spc="-1" strike="noStrike">
              <a:latin typeface="Arial"/>
            </a:endParaRPr>
          </a:p>
          <a:p>
            <a:pPr marL="457200" indent="-298440">
              <a:lnSpc>
                <a:spcPct val="162000"/>
              </a:lnSpc>
              <a:buClr>
                <a:srgbClr val="2b3541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-US" sz="1100" spc="-1" strike="noStrike">
                <a:solidFill>
                  <a:srgbClr val="2b3541"/>
                </a:solidFill>
                <a:latin typeface="Times New Roman"/>
                <a:ea typeface="Times New Roman"/>
              </a:rPr>
              <a:t>Make sure you have Uploaded following three files into your github repository  </a:t>
            </a:r>
            <a:br>
              <a:rPr sz="1100"/>
            </a:br>
            <a:r>
              <a:rPr b="0" lang="en-US" sz="1100" spc="-1" strike="noStrike">
                <a:solidFill>
                  <a:srgbClr val="2b3541"/>
                </a:solidFill>
                <a:latin typeface="Times New Roman"/>
                <a:ea typeface="Times New Roman"/>
              </a:rPr>
              <a:t>1) app.py file , 2) your_hackthon_problemstatement.pdf file  3) your projectpresntation.pptx file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2000" cy="342864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IN" sz="2400" spc="-1" strike="noStrike">
                <a:latin typeface="Times New Roman"/>
              </a:defRPr>
            </a:lvl1pPr>
          </a:lstStyle>
          <a:p>
            <a:endParaRPr b="0" lang="en-IN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3E1DE-6A6D-499E-8A4A-5E4207F16A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26B3B7-5A8A-4BF2-81A8-021212FEEE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505EDD-9883-4B0B-9F68-1589F0DA6D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486399-A1C7-4ACB-BC41-943CFCBEC5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0DBED4-A9E0-4987-85B7-E02D7845C2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4A7EAD-FEFC-4B7A-89D5-734F6603BC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2E788F-C9DE-403A-A375-064D3C2A15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9EA439-83F0-4394-9A73-26FE169EAC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DBE0F-2504-4E7E-9241-B544C999B7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8BB6BD-5419-4442-B7FE-266B20A2A4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37BEED-B568-4FD9-A9A1-1CE1F2E6A8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766DC-DF3F-4FD7-B832-4D9A74DA5C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5DDBE5-768E-413B-A5A4-E1C2E82E62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C8C8C-8E10-4996-9F38-737F9FA671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F12CEE-F801-4A7E-985B-EE6499DA1B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B42A4C-1E19-4018-BEE1-BD0EDABB42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BED9AA-4559-4B52-95D1-9E32AA03D3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93C902-A602-42BF-8276-5D03B8C7A8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96788F-E634-409C-B169-E2B9DFB797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79729C-1379-45FA-B8B7-42DF024545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9FCC14-2C74-4FC7-95E4-E3E85B8806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633618-1142-4C37-8813-FF220F6A93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E05386-11AA-468E-B764-77BBBA7D44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34BF4D-8B30-4ED4-BB75-44A16581D4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"/>
          <p:cNvPicPr/>
          <p:nvPr/>
        </p:nvPicPr>
        <p:blipFill>
          <a:blip r:embed="rId2"/>
          <a:stretch/>
        </p:blipFill>
        <p:spPr>
          <a:xfrm>
            <a:off x="335880" y="6176880"/>
            <a:ext cx="11520000" cy="4482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420DD40-7997-40E3-A87B-2063F0C9B33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 descr=""/>
          <p:cNvPicPr/>
          <p:nvPr/>
        </p:nvPicPr>
        <p:blipFill>
          <a:blip r:embed="rId2"/>
          <a:stretch/>
        </p:blipFill>
        <p:spPr>
          <a:xfrm>
            <a:off x="335880" y="6176880"/>
            <a:ext cx="11520000" cy="44820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73A7116-A2BB-4725-943C-8A917A4DF90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docs.datastax.com/en/langflow/index.html" TargetMode="External"/><Relationship Id="rId2" Type="http://schemas.openxmlformats.org/officeDocument/2006/relationships/hyperlink" Target="https://docs.langchain.com/" TargetMode="Externa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15548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6000"/>
          </a:bodyPr>
          <a:p>
            <a:pPr algn="ctr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Agentic AI Hackathon: </a:t>
            </a: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Building Intelligent Agents with</a:t>
            </a:r>
            <a:br>
              <a:rPr sz="6000"/>
            </a:b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Calibri"/>
              </a:rPr>
              <a:t>IBM Granite and LangFlow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2;p2"/>
          <p:cNvSpPr/>
          <p:nvPr/>
        </p:nvSpPr>
        <p:spPr>
          <a:xfrm>
            <a:off x="690480" y="4425480"/>
            <a:ext cx="107953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Google Shape;94;p2"/>
          <p:cNvSpPr/>
          <p:nvPr/>
        </p:nvSpPr>
        <p:spPr>
          <a:xfrm>
            <a:off x="1561680" y="704160"/>
            <a:ext cx="730152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500" spc="-1" strike="noStrike">
                <a:solidFill>
                  <a:srgbClr val="000000"/>
                </a:solidFill>
                <a:latin typeface="Arial"/>
                <a:ea typeface="Times New Roman"/>
              </a:rPr>
              <a:t>Name of the team: </a:t>
            </a:r>
            <a:r>
              <a:rPr b="0" lang="en-US" sz="3500" spc="-1" strike="noStrike">
                <a:solidFill>
                  <a:srgbClr val="000000"/>
                </a:solidFill>
                <a:latin typeface="Arial"/>
                <a:ea typeface="Times New Roman"/>
              </a:rPr>
              <a:t>SIGNAL</a:t>
            </a:r>
            <a:r>
              <a:rPr b="1" lang="en-US" sz="3500" spc="-1" strike="noStrike">
                <a:solidFill>
                  <a:srgbClr val="000000"/>
                </a:solidFill>
                <a:latin typeface="Arial"/>
                <a:ea typeface="Times New Roman"/>
              </a:rPr>
              <a:t>  </a:t>
            </a:r>
            <a:endParaRPr b="0" lang="en-IN" sz="3500" spc="-1" strike="noStrike">
              <a:latin typeface="Arial"/>
            </a:endParaRPr>
          </a:p>
        </p:txBody>
      </p:sp>
      <p:graphicFrame>
        <p:nvGraphicFramePr>
          <p:cNvPr id="93" name="Google Shape;96;p2"/>
          <p:cNvGraphicFramePr/>
          <p:nvPr/>
        </p:nvGraphicFramePr>
        <p:xfrm>
          <a:off x="1860120" y="1702440"/>
          <a:ext cx="8471880" cy="3720240"/>
        </p:xfrm>
        <a:graphic>
          <a:graphicData uri="http://schemas.openxmlformats.org/drawingml/2006/table">
            <a:tbl>
              <a:tblPr/>
              <a:tblGrid>
                <a:gridCol w="2560680"/>
                <a:gridCol w="1066320"/>
                <a:gridCol w="3500640"/>
                <a:gridCol w="1344240"/>
              </a:tblGrid>
              <a:tr h="7956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Photo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Email ID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Phone no.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solidFill>
                        <a:srgbClr val="a5a5a5"/>
                      </a:solidFill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a5a5a5"/>
                    </a:solidFill>
                  </a:tcPr>
                </a:tc>
              </a:tr>
              <a:tr h="975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Shashank Shantharam Nayak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shashankshantharam.cs23@bmsce.ac.in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9880242341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solidFill>
                        <a:srgbClr val="a5a5a5"/>
                      </a:solidFill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Pranay Kommuri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pranaykumar.cs23@bmsce.ac.in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8431470260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solidFill>
                        <a:srgbClr val="a5a5a5"/>
                      </a:solidFill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6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Saketha Ram 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kollusaketha.cs23@bmsce.ac.in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7569594295</a:t>
                      </a:r>
                      <a:endParaRPr b="0" lang="en-IN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solidFill>
                        <a:srgbClr val="a5a5a5"/>
                      </a:solidFill>
                    </a:lnR>
                    <a:lnT w="12240">
                      <a:solidFill>
                        <a:srgbClr val="a5a5a5"/>
                      </a:solidFill>
                    </a:lnT>
                    <a:lnB w="12240">
                      <a:solidFill>
                        <a:srgbClr val="a5a5a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4" name="Picture 5" descr=""/>
          <p:cNvPicPr/>
          <p:nvPr/>
        </p:nvPicPr>
        <p:blipFill>
          <a:blip r:embed="rId1"/>
          <a:stretch/>
        </p:blipFill>
        <p:spPr>
          <a:xfrm>
            <a:off x="4682880" y="2588400"/>
            <a:ext cx="606600" cy="80892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9" descr=""/>
          <p:cNvPicPr/>
          <p:nvPr/>
        </p:nvPicPr>
        <p:blipFill>
          <a:blip r:embed="rId2"/>
          <a:stretch/>
        </p:blipFill>
        <p:spPr>
          <a:xfrm>
            <a:off x="4682880" y="3562560"/>
            <a:ext cx="606600" cy="80892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3"/>
          <a:stretch/>
        </p:blipFill>
        <p:spPr>
          <a:xfrm>
            <a:off x="4682880" y="4624560"/>
            <a:ext cx="606600" cy="65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1485720" y="1708560"/>
            <a:ext cx="7616520" cy="37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AI-Driven Early Warning System for Traffic Congestion Hotspots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Traffic management is becoming increasingly complex, as cities and commuters struggle with: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Reactive congestion detection –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traffic issues are identified only after congestion has already formed.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Fragmented data sources –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traffic information spread across sensors, GPS systems, cameras, and weather data.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Lack of predictive insights –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limited ability to anticipate congestion hotspots before they occur.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Ineffective alerts –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delayed or generic traffic updates that do not support timely decision-making.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Without a reliable, intelligent assistant, travelers spend excessive time researching and still end up making suboptimal choices, leading to poor travel experiences, overspending, or missed opportunities.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PROBLEM STATEMENT 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1485720" y="1708560"/>
            <a:ext cx="7616520" cy="37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Key solution components include: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ingestion agents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powered by Watsonx, continuously collecting and normalizing data from traffic sensors, GPS feeds, weather systems, and incident reports.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Reasoning and prediction agents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Watsonx LMs analyze patterns, correlate multi-source data, and forecast congestion risks and emerging hotspots.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Decision orchestration agents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evaluate predicted scenarios and recommend optimal traffic control actions such as rerouting or signal optimization.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Alert and communication agents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generate clear, contextual, and timely warnings for traffic authorities and commuters.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By using Watsonx LM agentic AI, the system shifts traffic management from reactive monitoring to proactive, intelligent orchestration—reducing congestion duration, improving travel efficiency, lowering emissions, and enhancing overall urban mobility.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PROPOSED SOLUTION 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1485720" y="1708560"/>
            <a:ext cx="7616520" cy="26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Urban traffic congestion is increasingly unpredictable and causes longer travel times and commuter frustration.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Existing traffic systems are reactive and fragmented, limiting timely interventions.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Congestion leads to higher fuel consumption, emissions, and economic losses.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There is a need for a proactive, intelligent system that predicts congestion hotspots in advance.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Watsonx LM agentic AI can provide real-time reasoning, early warnings, and coordinated traffic management to improve urban mobility.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NEED OF PROJECT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END USER OF PROJECT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1485720" y="1708560"/>
            <a:ext cx="7616520" cy="243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Traffic authorities &amp; control rooms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monitor hotspots early and optimize signals/rerouting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Traffic police &amp; incident teams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– respond faster with diversions and enforcement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Commuters/public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get early warnings and choose better routes/times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Transport &amp; mobility operators (bus/metro/ride-hailing/logistics)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improve ETAs, dispatch, and routing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Urban planners/policymakers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– analyze trends for long-term infrastructure decisions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TECHNOLOGY USED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1485720" y="1708560"/>
            <a:ext cx="7616520" cy="32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Langflow platform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Langflow component names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– Chat Input, Language Model, CSV Agent, Traffic Analysis (Agent), Chat Output, Astra DB CQL (Tool)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IBM Granite model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– ibm/granite-3-3-8b-instruct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(as shown in your flow)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IBM Cloud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(watsonx hosted endpoint + project setup)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IBM watsonx.ai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(Model provider for inference)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Watsonx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(Watsonx ecosystem: LLM + tools integration)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RAG (Retrieval Augmented Generation)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– Used via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CSV dataset retrieval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(CSV Agent) + optional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Astra DB retrieval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(if connected)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/>
          <p:cNvSpPr/>
          <p:nvPr/>
        </p:nvSpPr>
        <p:spPr>
          <a:xfrm>
            <a:off x="3680280" y="874440"/>
            <a:ext cx="483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NOVELTY AND UNIQUENESS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1485720" y="1728720"/>
            <a:ext cx="7616520" cy="37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Proactive instead of reactive: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Predicts congestion hotspots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before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they form, not after traffic builds up.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Agentic AI orchestration: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Multiple Watsonx agents don’t just analyze data—they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coordinate decisions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like rerouting and signal optimization.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Multi-source intelligence fusion: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Combines traffic sensors, GPS feeds, weather, and incident reports into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one unified reasoning layer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Context-aware alerts: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Generates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clear, actionable warnings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tailored for both authorities and commuters (not generic updates).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Continuous learning: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Improves forecasts over time by learning recurring congestion patterns and sudden disruption signals.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End-to-end automation: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From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ingestion → prediction → decision recommendation → alert delivery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, all in one pipeline.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2"/>
          <p:cNvSpPr/>
          <p:nvPr/>
        </p:nvSpPr>
        <p:spPr>
          <a:xfrm>
            <a:off x="3680280" y="874440"/>
            <a:ext cx="483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Calibri"/>
              </a:rPr>
              <a:t>ARCHITECTURE BLUEPRINT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1485720" y="1728720"/>
            <a:ext cx="7616520" cy="37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Proactive instead of reactive: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Predicts congestion hotspots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before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they form, not after traffic builds up.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Agentic AI orchestration: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Multiple Watsonx agents don’t just analyze data—they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coordinate decisions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like rerouting and signal optimization.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Multi-source intelligence fusion: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Combines traffic sensors, GPS feeds, weather, and incident reports into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one unified reasoning layer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Context-aware alerts: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Generates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clear, actionable warnings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tailored for both authorities and commuters (not generic updates).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Continuous learning: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Improves forecasts over time by learning recurring congestion patterns and sudden disruption signals.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End-to-end automation: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From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ingestion → prediction → decision recommendation → alert delivery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, all in one pipeline.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2"/>
          <p:cNvSpPr/>
          <p:nvPr/>
        </p:nvSpPr>
        <p:spPr>
          <a:xfrm>
            <a:off x="3680280" y="874440"/>
            <a:ext cx="483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Calibri"/>
              </a:rPr>
              <a:t>TECHNICAL FLOW DIAGRAM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112" name="Picture 4" descr=""/>
          <p:cNvPicPr/>
          <p:nvPr/>
        </p:nvPicPr>
        <p:blipFill>
          <a:blip r:embed="rId1"/>
          <a:stretch/>
        </p:blipFill>
        <p:spPr>
          <a:xfrm>
            <a:off x="2527200" y="1670040"/>
            <a:ext cx="7449840" cy="406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2"/>
          <p:cNvSpPr/>
          <p:nvPr/>
        </p:nvSpPr>
        <p:spPr>
          <a:xfrm>
            <a:off x="3680280" y="874440"/>
            <a:ext cx="483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LANGFLOW COMPONENTS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4" name="TextBox 1"/>
          <p:cNvSpPr/>
          <p:nvPr/>
        </p:nvSpPr>
        <p:spPr>
          <a:xfrm>
            <a:off x="1485720" y="1708560"/>
            <a:ext cx="7616520" cy="32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1.   Chat Input</a:t>
            </a:r>
            <a:endParaRPr b="0" lang="en-IN" sz="1400" spc="-1" strike="noStrike">
              <a:latin typeface="Arial"/>
            </a:endParaRPr>
          </a:p>
          <a:p>
            <a:pPr lvl="2"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Takes user query as input</a:t>
            </a:r>
            <a:endParaRPr b="0" lang="en-IN" sz="1400" spc="-1" strike="noStrike">
              <a:latin typeface="Arial"/>
            </a:endParaRPr>
          </a:p>
          <a:p>
            <a:pPr lvl="2"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Starts the flow</a:t>
            </a:r>
            <a:endParaRPr b="0" lang="en-IN" sz="1400" spc="-1" strike="noStrike">
              <a:latin typeface="Arial"/>
            </a:endParaRPr>
          </a:p>
          <a:p>
            <a:pPr lvl="2"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Example: “Traffic in Koramangala at 9 PM?”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2.    IBM watsonx AI Agent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Main AI brain of the system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Understands location + time from query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Predicts congestion/hotspots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Suggests actions (reroute / signal control)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3.    File Component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Uploads traffic dataset (CSV)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Provides historical data for prediction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Helps improve accuracy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2"/>
          <p:cNvSpPr/>
          <p:nvPr/>
        </p:nvSpPr>
        <p:spPr>
          <a:xfrm>
            <a:off x="3172320" y="874440"/>
            <a:ext cx="58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LANGFLOW COMPONENTS (contd.)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6" name="TextBox 1"/>
          <p:cNvSpPr/>
          <p:nvPr/>
        </p:nvSpPr>
        <p:spPr>
          <a:xfrm>
            <a:off x="1485720" y="1708560"/>
            <a:ext cx="7616520" cy="32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 startAt="4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Chat Output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Shows final answer to the user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Gives warnings + predictions clearly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 startAt="4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Prompt / System Prompt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Defines agent role and rules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Makes output clear and consistent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 startAt="4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CSV Loader / Parser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Reads CSV properly into usable format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Extracts columns like Date, Area, Traffic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 startAt="4"/>
            </a:pPr>
            <a:r>
              <a:rPr b="1" lang="en-US" sz="1400" spc="-1" strike="noStrike">
                <a:solidFill>
                  <a:srgbClr val="808080"/>
                </a:solidFill>
                <a:latin typeface="Arial"/>
                <a:ea typeface="Arial"/>
              </a:rPr>
              <a:t>Memory (Optional)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808080"/>
                </a:solidFill>
                <a:latin typeface="Arial"/>
                <a:ea typeface="Arial"/>
              </a:rPr>
              <a:t>Remembers chat context</a:t>
            </a:r>
            <a:endParaRPr b="0" lang="en-IN" sz="1400" spc="-1" strike="noStrike">
              <a:latin typeface="Arial"/>
            </a:endParaRPr>
          </a:p>
          <a:p>
            <a:pPr lvl="1"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808080"/>
                </a:solidFill>
                <a:latin typeface="Arial"/>
                <a:ea typeface="Arial"/>
              </a:rPr>
              <a:t>Helps follow-up questions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LANGFLOW NETWORK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118" name="Picture 7" descr=""/>
          <p:cNvPicPr/>
          <p:nvPr/>
        </p:nvPicPr>
        <p:blipFill>
          <a:blip r:embed="rId1"/>
          <a:stretch/>
        </p:blipFill>
        <p:spPr>
          <a:xfrm>
            <a:off x="2682720" y="1623600"/>
            <a:ext cx="6825960" cy="435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CHAT PROMPT 1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120" name="Picture 4" descr=""/>
          <p:cNvPicPr/>
          <p:nvPr/>
        </p:nvPicPr>
        <p:blipFill>
          <a:blip r:embed="rId1"/>
          <a:stretch/>
        </p:blipFill>
        <p:spPr>
          <a:xfrm>
            <a:off x="2173680" y="1662840"/>
            <a:ext cx="7844040" cy="405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CHAT PROMPT 2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122" name="Picture 5" descr=""/>
          <p:cNvPicPr/>
          <p:nvPr/>
        </p:nvPicPr>
        <p:blipFill>
          <a:blip r:embed="rId1"/>
          <a:stretch/>
        </p:blipFill>
        <p:spPr>
          <a:xfrm>
            <a:off x="2173680" y="1662840"/>
            <a:ext cx="7844040" cy="405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CHAT PROMPT 3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124" name="Picture 3" descr=""/>
          <p:cNvPicPr/>
          <p:nvPr/>
        </p:nvPicPr>
        <p:blipFill>
          <a:blip r:embed="rId1"/>
          <a:stretch/>
        </p:blipFill>
        <p:spPr>
          <a:xfrm>
            <a:off x="2173680" y="1662840"/>
            <a:ext cx="7844040" cy="404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FUTURE SCOPE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1485720" y="1708560"/>
            <a:ext cx="7616520" cy="30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Integration with adaptive traffic signals: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Automatically change signal timings in real-time based on predicted congestion.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AI-driven route recommendations: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Provide personalized alternate routes for commuters and fleets.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Incident detection + response automation: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Detect accidents/breakdowns early and trigger emergency/diversion workflows.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Multi-city scalability: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Expand the system to support multiple cities with region-specific traffic patterns.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Public transport optimization: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Predict bus delays, improve scheduling, and suggest dynamic route adjustments.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FUTURE SCOPE (contd.)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1485720" y="1708560"/>
            <a:ext cx="7616520" cy="24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Event-based congestion control: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Forecast traffic surges during festivals, concerts, sports events, or peak hours.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Smart parking guidance: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Predict parking demand and guide vehicles to available parking to reduce road clogging.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Environment &amp; sustainability insights: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Track emission reduction and fuel savings from congestion prevention.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V2X readiness: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Future integration with connected vehicles (vehicle-to-infrastructure communication).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/>
          <p:cNvSpPr/>
          <p:nvPr/>
        </p:nvSpPr>
        <p:spPr>
          <a:xfrm>
            <a:off x="3968640" y="874440"/>
            <a:ext cx="42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GITHUB LINK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0" name="Rectangle 2"/>
          <p:cNvSpPr/>
          <p:nvPr/>
        </p:nvSpPr>
        <p:spPr>
          <a:xfrm>
            <a:off x="1499760" y="1708560"/>
            <a:ext cx="9194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https://github.com/DevelSSN/ibm-hackathon-project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Calibri"/>
                <a:ea typeface="Calibri"/>
              </a:rPr>
              <a:t>References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57200" indent="-343080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  <a:ea typeface="Calibri"/>
              </a:rPr>
              <a:t>Langflow docs - 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1"/>
              </a:rPr>
              <a:t>https://docs.datastax.com/en/langflow/index.html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998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Langchain docs - 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2"/>
              </a:rPr>
              <a:t>https://docs.langchain.com/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998"/>
              </a:spcBef>
              <a:buNone/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310;p20" descr=""/>
          <p:cNvPicPr/>
          <p:nvPr/>
        </p:nvPicPr>
        <p:blipFill>
          <a:blip r:embed="rId1"/>
          <a:stretch/>
        </p:blipFill>
        <p:spPr>
          <a:xfrm>
            <a:off x="0" y="2190240"/>
            <a:ext cx="12191760" cy="247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  <dc:description/>
  <dc:language>en-IN</dc:language>
  <cp:lastModifiedBy/>
  <dcterms:modified xsi:type="dcterms:W3CDTF">2026-01-30T10:32:55Z</dcterms:modified>
  <cp:revision>161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21</vt:i4>
  </property>
  <property fmtid="{D5CDD505-2E9C-101B-9397-08002B2CF9AE}" pid="4" name="PresentationFormat">
    <vt:lpwstr>On-screen Show (4:3)</vt:lpwstr>
  </property>
  <property fmtid="{D5CDD505-2E9C-101B-9397-08002B2CF9AE}" pid="5" name="Slides">
    <vt:i4>21</vt:i4>
  </property>
</Properties>
</file>