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1FECB4D8-DB02-4DC6-A0A2-4F2EBAE1DC90}">
  <a:tblStyle styleId="{1FECB4D8-DB02-4DC6-A0A2-4F2EBAE1DC90}" styleName="Medium Style 1 - Accent 3">
    <a:wholeTbl>
      <a:tcTxStyle>
        <a:fontRef idx="minor">
          <a:srgbClr val="000000"/>
        </a:fontRef>
        <a:schemeClr val="dk1"/>
      </a:tcTxStyle>
      <a:tcStyle>
        <a:tcBdr>
          <a:left>
            <a:ln w="12700">
              <a:solidFill>
                <a:schemeClr val="accent3"/>
              </a:solidFill>
            </a:ln>
          </a:left>
          <a:right>
            <a:ln w="12700">
              <a:solidFill>
                <a:schemeClr val="accent3"/>
              </a:solidFill>
            </a:ln>
          </a:right>
          <a:top>
            <a:ln w="12700">
              <a:solidFill>
                <a:schemeClr val="accent3"/>
              </a:solidFill>
            </a:ln>
          </a:top>
          <a:bottom>
            <a:ln w="12700">
              <a:solidFill>
                <a:schemeClr val="accent3"/>
              </a:solidFill>
            </a:ln>
          </a:bottom>
          <a:insideH>
            <a:ln w="12700">
              <a:solidFill>
                <a:schemeClr val="accent3"/>
              </a:solidFill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band2V>
      <a:tcStyle>
        <a:tcBdr/>
        <a:fill>
          <a:solidFill>
            <a:schemeClr val="accent3">
              <a:tint val="20000"/>
            </a:schemeClr>
          </a:solidFill>
        </a:fill>
      </a:tcStyle>
    </a:band2V>
    <a:lastCol>
      <a:tcStyle>
        <a:tcBdr/>
      </a:tcStyle>
    </a:lastCol>
    <a:firstCol>
      <a:tcStyle>
        <a:tcBdr/>
      </a:tcStyle>
    </a:firstCol>
    <a:lastRow>
      <a:tcStyle>
        <a:tcBdr>
          <a:top>
            <a:ln w="50800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srgbClr val="00000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5" d="100"/>
          <a:sy n="75" d="100"/>
        </p:scale>
        <p:origin x="946" y="43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942278" name="Google Shape;3;n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86388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28BD96-1082-44CE-8079-D0BC4C9A20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665402" name="Google Shape;88;p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76236151" name="Google Shape;89;p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309515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01929463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036048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03909466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236141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8498353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755667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84131285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206283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62552938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4750377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7931073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391303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34993751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322220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93045039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600570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3729181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780721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268045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061711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5006836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797888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9901061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031021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153177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159929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6986270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0903120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7874727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696064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54763677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157810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/>
            </a:pPr>
            <a:r>
              <a:rPr lang="en-US" sz="110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· Please create public </a:t>
            </a:r>
            <a:r>
              <a:rPr lang="en-US" sz="110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github</a:t>
            </a:r>
            <a:r>
              <a:rPr lang="en-US" sz="110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 repository (Enable Add README  button while creating repository) with format – </a:t>
            </a:r>
            <a:endParaRPr/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/>
            </a:pPr>
            <a:r>
              <a:rPr lang="en-US" sz="11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Please test and Paste the working  </a:t>
            </a:r>
            <a:r>
              <a:rPr lang="en-US" sz="11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Github</a:t>
            </a:r>
            <a:r>
              <a:rPr lang="en-US" sz="11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 URL –</a:t>
            </a:r>
            <a:endParaRPr/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  <a:defRPr/>
            </a:pPr>
            <a:r>
              <a:rPr lang="en-US" sz="1100" b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Make sure you have Uploaded following three files into your </a:t>
            </a:r>
            <a:r>
              <a:rPr lang="en-US" sz="1100" b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github</a:t>
            </a:r>
            <a:r>
              <a:rPr lang="en-US" sz="1100" b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 repository  </a:t>
            </a:r>
            <a:br>
              <a:rPr lang="en-US" sz="11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</a:br>
            <a:r>
              <a:rPr lang="en-US" sz="11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</a:rPr>
              <a:t>1) app.py file , 2) your_hackthon_problemstatement.pdf file  3) your projectpresntation.pptx file </a:t>
            </a:r>
            <a:endParaRPr/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/>
            </a:pPr>
            <a:endParaRPr lang="en-US" sz="110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732816686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F9060E-B501-DB3C-2456-46E197A20A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659024" name="Google Shape;304;p2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176292" name="Google Shape;305;p2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088023" name="Google Shape;18;p23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44398067" name="Google Shape;19;p23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4520186" name="Google Shape;20;p23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21376197" name="Google Shape;21;p23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76863066" name="Google Shape;22;p23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752595" name="Google Shape;24;p24"/>
          <p:cNvSpPr txBox="1"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09684058" name="Google Shape;25;p24"/>
          <p:cNvSpPr txBox="1"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831115766" name="Google Shape;26;p24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35963790" name="Google Shape;27;p24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30539074" name="Google Shape;28;p24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0113550" name="Google Shape;30;p25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47116457" name="Google Shape;31;p25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02121725" name="Google Shape;32;p25"/>
          <p:cNvSpPr txBox="1">
            <a:spLocks noGrp="1"/>
          </p:cNvSpPr>
          <p:nvPr>
            <p:ph type="body" idx="2"/>
          </p:nvPr>
        </p:nvSpPr>
        <p:spPr bwMode="auto"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7386439" name="Google Shape;33;p25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2837761" name="Google Shape;34;p25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2757450" name="Google Shape;35;p25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903841" name="Google Shape;37;p26"/>
          <p:cNvSpPr txBox="1"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10681324" name="Google Shape;38;p26"/>
          <p:cNvSpPr txBox="1"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792358170" name="Google Shape;39;p26"/>
          <p:cNvSpPr txBox="1">
            <a:spLocks noGrp="1"/>
          </p:cNvSpPr>
          <p:nvPr>
            <p:ph type="body" idx="2"/>
          </p:nvPr>
        </p:nvSpPr>
        <p:spPr bwMode="auto">
          <a:xfrm>
            <a:off x="839788" y="2505074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86583781" name="Google Shape;40;p26"/>
          <p:cNvSpPr txBox="1">
            <a:spLocks noGrp="1"/>
          </p:cNvSpPr>
          <p:nvPr>
            <p:ph type="body" idx="3"/>
          </p:nvPr>
        </p:nvSpPr>
        <p:spPr bwMode="auto"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874566834" name="Google Shape;41;p26"/>
          <p:cNvSpPr txBox="1">
            <a:spLocks noGrp="1"/>
          </p:cNvSpPr>
          <p:nvPr>
            <p:ph type="body" idx="4"/>
          </p:nvPr>
        </p:nvSpPr>
        <p:spPr bwMode="auto">
          <a:xfrm>
            <a:off x="6172200" y="2505074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1238207" name="Google Shape;42;p26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36697333" name="Google Shape;43;p26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8243802" name="Google Shape;44;p26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372394" name="Google Shape;46;p27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1263417" name="Google Shape;47;p27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7448717" name="Google Shape;48;p27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52177461" name="Google Shape;49;p27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2750438" name="Google Shape;51;p28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20435066" name="Google Shape;52;p28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52932543" name="Google Shape;53;p28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347855" name="Google Shape;55;p29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3536159" name="Google Shape;56;p29"/>
          <p:cNvSpPr txBox="1">
            <a:spLocks noGrp="1"/>
          </p:cNvSpPr>
          <p:nvPr>
            <p:ph type="body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023763228" name="Google Shape;57;p29"/>
          <p:cNvSpPr txBox="1">
            <a:spLocks noGrp="1"/>
          </p:cNvSpPr>
          <p:nvPr>
            <p:ph type="body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193964646" name="Google Shape;58;p29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06694013" name="Google Shape;59;p29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01078414" name="Google Shape;60;p29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566825" name="Google Shape;62;p30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49211508" name="Google Shape;63;p30"/>
          <p:cNvSpPr>
            <a:spLocks noGrp="1"/>
          </p:cNvSpPr>
          <p:nvPr>
            <p:ph type="pic" idx="2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551359638" name="Google Shape;64;p30"/>
          <p:cNvSpPr txBox="1">
            <a:spLocks noGrp="1"/>
          </p:cNvSpPr>
          <p:nvPr>
            <p:ph type="body" idx="1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362498098" name="Google Shape;65;p30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1930175" name="Google Shape;66;p30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81239729" name="Google Shape;67;p30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707380" name="Google Shape;69;p31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35679963" name="Google Shape;70;p31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00546594" name="Google Shape;71;p3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19824805" name="Google Shape;72;p3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85541825" name="Google Shape;73;p3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960533" name="Google Shape;75;p32"/>
          <p:cNvSpPr txBox="1">
            <a:spLocks noGrp="1"/>
          </p:cNvSpPr>
          <p:nvPr>
            <p:ph type="title"/>
          </p:nvPr>
        </p:nvSpPr>
        <p:spPr bwMode="auto"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85577949" name="Google Shape;76;p32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81462103" name="Google Shape;77;p3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25168329" name="Google Shape;78;p3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35368403" name="Google Shape;79;p32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389702" name="Google Shape;6;p21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293075218" name="Google Shape;7;p21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43226378" name="Google Shape;8;p2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78775335" name="Google Shape;9;p2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57471539" name="Google Shape;10;p2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35721539" name="Picture 2"/>
          <p:cNvPicPr>
            <a:picLocks noChangeAspect="1"/>
          </p:cNvPicPr>
          <p:nvPr userDrawn="1"/>
        </p:nvPicPr>
        <p:blipFill rotWithShape="1">
          <a:blip r:embed="rId12"/>
          <a:stretch/>
        </p:blipFill>
        <p:spPr bwMode="auto">
          <a:xfrm>
            <a:off x="335797" y="6176963"/>
            <a:ext cx="11520407" cy="448606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docs.datastax.com/en/langflow/index.html" TargetMode="External"/><Relationship Id="rId4" Type="http://schemas.openxmlformats.org/officeDocument/2006/relationships/hyperlink" Target="https://docs.langchain.com/" TargetMode="Externa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108659" name="Title 1"/>
          <p:cNvSpPr>
            <a:spLocks noGrp="1"/>
          </p:cNvSpPr>
          <p:nvPr>
            <p:ph type="title"/>
          </p:nvPr>
        </p:nvSpPr>
        <p:spPr bwMode="auto">
          <a:xfrm>
            <a:off x="838200" y="1554977"/>
            <a:ext cx="10515600" cy="2852737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en-US" b="1"/>
              <a:t>Agentic AI Hackathon: </a:t>
            </a:r>
            <a:r>
              <a:rPr lang="en-US"/>
              <a:t>Building Intelligent Agents with</a:t>
            </a:r>
            <a:br>
              <a:rPr lang="en-US"/>
            </a:br>
            <a:r>
              <a:rPr lang="en-US"/>
              <a:t>IBM Granite and </a:t>
            </a:r>
            <a:r>
              <a:rPr lang="en-US"/>
              <a:t>LangFlow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634420" name="Google Shape;92;p2"/>
          <p:cNvSpPr/>
          <p:nvPr/>
        </p:nvSpPr>
        <p:spPr bwMode="auto"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36269929" name="Google Shape;94;p2"/>
          <p:cNvSpPr txBox="1"/>
          <p:nvPr/>
        </p:nvSpPr>
        <p:spPr bwMode="auto">
          <a:xfrm>
            <a:off x="1561534" y="704082"/>
            <a:ext cx="7301728" cy="64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500"/>
              <a:buFont typeface="Times New Roman"/>
              <a:buNone/>
              <a:defRPr/>
            </a:pPr>
            <a:r>
              <a:rPr lang="en-US" sz="3500" b="1" i="0" u="none" strike="noStrike" cap="none">
                <a:solidFill>
                  <a:schemeClr val="tx1"/>
                </a:solidFill>
                <a:latin typeface="+mj-lt"/>
                <a:ea typeface="Times New Roman"/>
                <a:cs typeface="Times New Roman"/>
              </a:rPr>
              <a:t>Name of the team: </a:t>
            </a:r>
            <a:r>
              <a:rPr lang="en-US" sz="3500" i="0" u="none" strike="noStrike" cap="none">
                <a:solidFill>
                  <a:schemeClr val="tx1"/>
                </a:solidFill>
                <a:latin typeface="+mj-lt"/>
                <a:ea typeface="Times New Roman"/>
                <a:cs typeface="Times New Roman"/>
              </a:rPr>
              <a:t>SIGNAL</a:t>
            </a:r>
            <a:r>
              <a:rPr lang="en-US" sz="3500" b="1" i="0" u="none" strike="noStrike" cap="none">
                <a:solidFill>
                  <a:schemeClr val="tx1"/>
                </a:solidFill>
                <a:latin typeface="+mj-lt"/>
                <a:ea typeface="Times New Roman"/>
                <a:cs typeface="Times New Roman"/>
              </a:rPr>
              <a:t>  </a:t>
            </a:r>
            <a:endParaRPr>
              <a:solidFill>
                <a:schemeClr val="tx1"/>
              </a:solidFill>
              <a:latin typeface="+mj-lt"/>
            </a:endParaRPr>
          </a:p>
        </p:txBody>
      </p:sp>
      <p:graphicFrame>
        <p:nvGraphicFramePr>
          <p:cNvPr id="863039547" name="Google Shape;96;p2"/>
          <p:cNvGraphicFramePr>
            <a:graphicFrameLocks xmlns:a="http://schemas.openxmlformats.org/drawingml/2006/main"/>
          </p:cNvGraphicFramePr>
          <p:nvPr/>
        </p:nvGraphicFramePr>
        <p:xfrm rot="0">
          <a:off x="1859962" y="1702281"/>
          <a:ext cx="8472074" cy="3720657"/>
        </p:xfrm>
        <a:graphic>
          <a:graphicData uri="http://schemas.openxmlformats.org/drawingml/2006/table">
            <a:tbl>
              <a:tblPr firstRow="1" firstCol="0" lastRow="0" lastCol="0" bandRow="0" bandCol="0">
                <a:tableStyleId>{1FECB4D8-DB02-4DC6-A0A2-4F2EBAE1DC90}</a:tableStyleId>
              </a:tblPr>
              <a:tblGrid>
                <a:gridCol w="2487562"/>
                <a:gridCol w="1238864"/>
                <a:gridCol w="3401961"/>
                <a:gridCol w="1343687"/>
              </a:tblGrid>
              <a:tr h="795769"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u="none" strike="noStrike" cap="none"/>
                        <a:t>Name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u="none" strike="noStrike" cap="none"/>
                        <a:t>Photo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  <a:defRPr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</a:rPr>
                        <a:t>Email ID </a:t>
                      </a:r>
                      <a:endParaRPr lang="en-US" sz="1800" u="none" strike="noStrike" cap="none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  <a:defRPr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</a:rPr>
                        <a:t>Phone no.</a:t>
                      </a:r>
                      <a:endParaRPr lang="en-US" sz="1800" u="none" strike="noStrike" cap="none"/>
                    </a:p>
                  </a:txBody>
                  <a:tcPr marL="91450" marR="91450" marT="45725" marB="45725" anchor="ctr"/>
                </a:tc>
              </a:tr>
              <a:tr h="976186">
                <a:tc>
                  <a:txBody>
                    <a:bodyPr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defRPr/>
                      </a:pPr>
                      <a:r>
                        <a:rPr lang="en-IN" sz="1400"/>
                        <a:t>Shashank </a:t>
                      </a:r>
                      <a:r>
                        <a:rPr lang="en-IN" sz="1400"/>
                        <a:t>Shantaram</a:t>
                      </a:r>
                      <a:r>
                        <a:rPr lang="en-IN" sz="1400"/>
                        <a:t> Nayak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shashankshantaram.cs23@bmsce.ac.in</a:t>
                      </a: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9880242341</a:t>
                      </a:r>
                      <a:endParaRPr sz="1400"/>
                    </a:p>
                  </a:txBody>
                  <a:tcPr marL="91450" marR="91450" marT="45725" marB="45725" anchor="ctr"/>
                </a:tc>
              </a:tr>
              <a:tr h="972516">
                <a:tc>
                  <a:txBody>
                    <a:bodyPr/>
                    <a:p>
                      <a:pPr marL="0" marR="0" lvl="0" indent="0" algn="l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defRPr/>
                      </a:pPr>
                      <a:r>
                        <a:rPr lang="en-IN" sz="1400"/>
                        <a:t>Pranay Kommuri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pranaykumar.cs23@bmsce.ac.in</a:t>
                      </a: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8431470260</a:t>
                      </a:r>
                      <a:endParaRPr sz="1400"/>
                    </a:p>
                  </a:txBody>
                  <a:tcPr marL="91450" marR="91450" marT="45725" marB="45725" anchor="ctr"/>
                </a:tc>
              </a:tr>
              <a:tr h="976186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Saketha Ram </a:t>
                      </a: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kollusaketha.cs23@bmsce.ac.in</a:t>
                      </a:r>
                      <a:endParaRPr sz="14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IN" sz="1400"/>
                        <a:t>7569594295</a:t>
                      </a:r>
                      <a:endParaRPr sz="1400"/>
                    </a:p>
                  </a:txBody>
                  <a:tcPr marL="91450" marR="91450" marT="45725" marB="45725" anchor="ctr"/>
                </a:tc>
              </a:tr>
            </a:tbl>
          </a:graphicData>
        </a:graphic>
      </p:graphicFrame>
      <p:pic>
        <p:nvPicPr>
          <p:cNvPr id="1720765790" name="Pictur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682759" y="2588454"/>
            <a:ext cx="606996" cy="809328"/>
          </a:xfrm>
          <a:prstGeom prst="rect">
            <a:avLst/>
          </a:prstGeom>
        </p:spPr>
      </p:pic>
      <p:pic>
        <p:nvPicPr>
          <p:cNvPr id="856167491" name="Picture 9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682759" y="3562609"/>
            <a:ext cx="606996" cy="809126"/>
          </a:xfrm>
          <a:prstGeom prst="rect">
            <a:avLst/>
          </a:prstGeom>
        </p:spPr>
      </p:pic>
      <p:pic>
        <p:nvPicPr>
          <p:cNvPr id="32003284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682758" y="4624599"/>
            <a:ext cx="606995" cy="6522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319840" name="TextBox 1"/>
          <p:cNvSpPr txBox="1"/>
          <p:nvPr/>
        </p:nvSpPr>
        <p:spPr bwMode="auto">
          <a:xfrm>
            <a:off x="1485776" y="1708557"/>
            <a:ext cx="7616952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b="1"/>
              <a:t>AI-Driven Early Warning System for Traffic Congestion Hotspots</a:t>
            </a:r>
            <a:endParaRPr/>
          </a:p>
          <a:p>
            <a:pPr>
              <a:defRPr/>
            </a:pPr>
            <a:br>
              <a:rPr lang="en-US"/>
            </a:br>
            <a:r>
              <a:rPr lang="en-US"/>
              <a:t>Traffic management is becoming increasingly complex, as cities and commuters struggle with:</a:t>
            </a:r>
            <a:endParaRPr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Reactive congestion detection – </a:t>
            </a:r>
            <a:r>
              <a:rPr lang="en-US"/>
              <a:t>traffic issues are identified only after congestion has already formed.</a:t>
            </a:r>
            <a:endParaRPr/>
          </a:p>
          <a:p>
            <a:pPr>
              <a:defRPr/>
            </a:pPr>
            <a:r>
              <a:rPr lang="en-US" b="1"/>
              <a:t>Fragmented data sources – </a:t>
            </a:r>
            <a:r>
              <a:rPr lang="en-US"/>
              <a:t>traffic information spread across sensors, GPS systems, cameras, and weather data.</a:t>
            </a:r>
            <a:endParaRPr/>
          </a:p>
          <a:p>
            <a:pPr>
              <a:defRPr/>
            </a:pPr>
            <a:r>
              <a:rPr lang="en-US" b="1"/>
              <a:t>Lack of predictive insights – </a:t>
            </a:r>
            <a:r>
              <a:rPr lang="en-US"/>
              <a:t>limited ability to anticipate congestion hotspots before they occur.</a:t>
            </a:r>
            <a:endParaRPr/>
          </a:p>
          <a:p>
            <a:pPr>
              <a:defRPr/>
            </a:pPr>
            <a:r>
              <a:rPr lang="en-US" b="1"/>
              <a:t>Ineffective alerts – </a:t>
            </a:r>
            <a:r>
              <a:rPr lang="en-US"/>
              <a:t>delayed or generic traffic updates that do not support timely decision-making.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Without a reliable, intelligent assistant, travelers spend excessive time researching and still end up making suboptimal choices, leading to poor travel experiences, overspending, or missed opportunities.</a:t>
            </a:r>
            <a:endParaRPr/>
          </a:p>
          <a:p>
            <a:pPr>
              <a:defRPr/>
            </a:pPr>
            <a:endParaRPr lang="en-IN"/>
          </a:p>
        </p:txBody>
      </p:sp>
      <p:sp>
        <p:nvSpPr>
          <p:cNvPr id="1686501579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PROBLEM STATEMENT 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666648" name="TextBox 1"/>
          <p:cNvSpPr txBox="1"/>
          <p:nvPr/>
        </p:nvSpPr>
        <p:spPr bwMode="auto">
          <a:xfrm>
            <a:off x="1485776" y="1708557"/>
            <a:ext cx="7616952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/>
              <a:t>Key solution components include: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b="1"/>
              <a:t>Data ingestion agents </a:t>
            </a:r>
            <a:r>
              <a:rPr lang="en-US"/>
              <a:t>– powered by </a:t>
            </a:r>
            <a:r>
              <a:rPr lang="en-US"/>
              <a:t>Watsonx</a:t>
            </a:r>
            <a:r>
              <a:rPr lang="en-US"/>
              <a:t>, continuously collecting and normalizing data from traffic sensors, GPS feeds, weather systems, and incident reports.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b="1"/>
              <a:t>Reasoning and prediction agents </a:t>
            </a:r>
            <a:r>
              <a:rPr lang="en-US"/>
              <a:t>– </a:t>
            </a:r>
            <a:r>
              <a:rPr lang="en-US"/>
              <a:t>Watsonx</a:t>
            </a:r>
            <a:r>
              <a:rPr lang="en-US"/>
              <a:t> LMs analyze patterns, correlate multi-source data, and forecast congestion risks and emerging hotspots.</a:t>
            </a:r>
            <a:endParaRPr/>
          </a:p>
          <a:p>
            <a:pPr>
              <a:defRPr/>
            </a:pPr>
            <a:endParaRPr lang="en-US" b="1"/>
          </a:p>
          <a:p>
            <a:pPr>
              <a:defRPr/>
            </a:pPr>
            <a:r>
              <a:rPr lang="en-US" b="1"/>
              <a:t>Decision orchestration agents </a:t>
            </a:r>
            <a:r>
              <a:rPr lang="en-US"/>
              <a:t>– evaluate predicted scenarios and recommend optimal traffic control actions such as rerouting or signal optimization.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b="1"/>
              <a:t>Alert and communication agents </a:t>
            </a:r>
            <a:r>
              <a:rPr lang="en-US"/>
              <a:t>– generate clear, contextual, and timely warnings for traffic authorities and commuters.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By using </a:t>
            </a:r>
            <a:r>
              <a:rPr lang="en-US"/>
              <a:t>Watsonx</a:t>
            </a:r>
            <a:r>
              <a:rPr lang="en-US"/>
              <a:t> LM agentic AI, the system shifts traffic management from reactive monitoring to proactive, intelligent orchestration—reducing congestion duration, improving travel efficiency, lowering emissions, and enhancing overall urban mobility.</a:t>
            </a:r>
            <a:endParaRPr lang="en-IN"/>
          </a:p>
        </p:txBody>
      </p:sp>
      <p:sp>
        <p:nvSpPr>
          <p:cNvPr id="1350967544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PROPOSED SOLUTION 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575134" name="TextBox 1"/>
          <p:cNvSpPr txBox="1"/>
          <p:nvPr/>
        </p:nvSpPr>
        <p:spPr bwMode="auto">
          <a:xfrm>
            <a:off x="1485776" y="1708557"/>
            <a:ext cx="76169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/>
              <a:t>Urban traffic congestion is increasingly unpredictable and causes longer travel times and commuter frustration.</a:t>
            </a:r>
            <a:endParaRPr/>
          </a:p>
          <a:p>
            <a:pPr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/>
              <a:t>Existing traffic systems are reactive and fragmented, limiting timely interventions.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/>
              <a:t>Congestion leads to higher fuel consumption, emissions, and economic losses.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/>
              <a:t>There is a need for a proactive, intelligent system that predicts congestion hotspots in advance.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/>
              <a:t>Watsonx</a:t>
            </a:r>
            <a:r>
              <a:rPr lang="en-US"/>
              <a:t> LM agentic AI can provide real-time reasoning, early warnings, and coordinated traffic management to improve urban mobility.</a:t>
            </a:r>
            <a:endParaRPr lang="en-IN"/>
          </a:p>
        </p:txBody>
      </p:sp>
      <p:sp>
        <p:nvSpPr>
          <p:cNvPr id="740001341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NEED OF PROJECT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314332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END USER OF PROJECT</a:t>
            </a:r>
            <a:endParaRPr/>
          </a:p>
        </p:txBody>
      </p:sp>
      <p:sp>
        <p:nvSpPr>
          <p:cNvPr id="77967508" name="TextBox 3"/>
          <p:cNvSpPr txBox="1"/>
          <p:nvPr/>
        </p:nvSpPr>
        <p:spPr bwMode="auto">
          <a:xfrm>
            <a:off x="1485776" y="1708557"/>
            <a:ext cx="761695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 b="1"/>
              <a:t>Traffic authorities &amp; control rooms </a:t>
            </a:r>
            <a:r>
              <a:rPr lang="en-US"/>
              <a:t>– monitor hotspots early and optimize signals/rerouting</a:t>
            </a:r>
            <a:endParaRPr/>
          </a:p>
          <a:p>
            <a:pPr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Traffic police &amp; incident teams</a:t>
            </a:r>
            <a:r>
              <a:rPr lang="en-US"/>
              <a:t> – respond faster with diversions and enforcement</a:t>
            </a:r>
            <a:endParaRPr/>
          </a:p>
          <a:p>
            <a:pPr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Commuters/public </a:t>
            </a:r>
            <a:r>
              <a:rPr lang="en-US"/>
              <a:t>– get early warnings and choose better routes/times</a:t>
            </a:r>
            <a:endParaRPr/>
          </a:p>
          <a:p>
            <a:pPr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Transport &amp; mobility operators (bus/metro/ride-hailing/logistics) </a:t>
            </a:r>
            <a:r>
              <a:rPr lang="en-US"/>
              <a:t>– improve ETAs, dispatch, and routing</a:t>
            </a:r>
            <a:endParaRPr/>
          </a:p>
          <a:p>
            <a:pPr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Urban planners/policymakers </a:t>
            </a:r>
            <a:r>
              <a:rPr lang="en-US"/>
              <a:t>– analyze trends for long-term infrastructure decisions</a:t>
            </a:r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149706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TECHNOLOGY USED</a:t>
            </a:r>
            <a:endParaRPr/>
          </a:p>
        </p:txBody>
      </p:sp>
      <p:sp>
        <p:nvSpPr>
          <p:cNvPr id="1695193376" name="Rectangle 2"/>
          <p:cNvSpPr>
            <a:spLocks noChangeArrowheads="1"/>
          </p:cNvSpPr>
          <p:nvPr/>
        </p:nvSpPr>
        <p:spPr bwMode="auto">
          <a:xfrm>
            <a:off x="1485776" y="1708557"/>
            <a:ext cx="7616952" cy="33239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/>
            <a:spAutoFit/>
          </a:bodyPr>
          <a:lstStyle/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Langflow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platform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Langflow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component names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– Chat Input, Language Model, CSV Agent, Traffic Analysis (Agent), Chat Output, Astra DB CQL (Tool)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IBM Granite model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– 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ibm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/granite-3-3-8b-instruct 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(as shown in your flow)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IBM Cloud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(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watsonx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hosted endpoint + project setup)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IBM watsonx.ai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(Model provider for inference)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Watsonx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(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Watsonx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ecosystem: LLM + tools integration)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RAG (Retrieval Augmented Generation)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– Used via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CSV dataset retrieval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(CSV Agent) + optional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Astra DB retrieval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(if connected)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428020" name="TextBox 2"/>
          <p:cNvSpPr txBox="1"/>
          <p:nvPr/>
        </p:nvSpPr>
        <p:spPr bwMode="auto">
          <a:xfrm>
            <a:off x="3680408" y="874410"/>
            <a:ext cx="48311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NOVELTY AND UNIQUENESS</a:t>
            </a:r>
            <a:endParaRPr/>
          </a:p>
        </p:txBody>
      </p:sp>
      <p:sp>
        <p:nvSpPr>
          <p:cNvPr id="634960260" name="Rectangle 3"/>
          <p:cNvSpPr>
            <a:spLocks noChangeArrowheads="1"/>
          </p:cNvSpPr>
          <p:nvPr/>
        </p:nvSpPr>
        <p:spPr bwMode="auto">
          <a:xfrm>
            <a:off x="1485776" y="1708557"/>
            <a:ext cx="7616952" cy="375487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/>
            <a:spAutoFit/>
          </a:bodyPr>
          <a:lstStyle/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Proactive instead of reactive: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Predicts congestion hotspots 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before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they form, not after traffic builds up.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Agentic AI orchestration: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Multiple 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Watsonx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agents don’t just analyze data—they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coordinate decisions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like rerouting and signal optimization.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Multi-source intelligence fusion: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Combines traffic sensors, GPS feeds, weather, and incident reports into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one unified reasoning layer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Context-aware alerts: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Generates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clear, actionable warnings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tailored for both authorities and commuters (not generic updates).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Continuous learning: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Improves forecasts over time by learning recurring congestion patterns and sudden disruption signals.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End-to-end automation: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From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data ingestion → prediction → decision recommendation → alert delivery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, all in one pipeline.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607806" name="TextBox 2"/>
          <p:cNvSpPr txBox="1"/>
          <p:nvPr/>
        </p:nvSpPr>
        <p:spPr bwMode="auto">
          <a:xfrm>
            <a:off x="3680408" y="874410"/>
            <a:ext cx="48311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Arial"/>
                <a:ea typeface="Calibri"/>
                <a:cs typeface="Calibri"/>
              </a:rPr>
              <a:t>ARCHITECTURE BLUEPRINT</a:t>
            </a:r>
            <a:endParaRPr lang="en-US" sz="2400" b="1"/>
          </a:p>
        </p:txBody>
      </p:sp>
      <p:sp>
        <p:nvSpPr>
          <p:cNvPr id="2093680534" name="Rectangle 3"/>
          <p:cNvSpPr>
            <a:spLocks noChangeArrowheads="1"/>
          </p:cNvSpPr>
          <p:nvPr/>
        </p:nvSpPr>
        <p:spPr bwMode="auto">
          <a:xfrm>
            <a:off x="1485776" y="1708557"/>
            <a:ext cx="7616952" cy="375487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/>
            <a:spAutoFit/>
          </a:bodyPr>
          <a:lstStyle/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Proactive instead of reactive: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Predicts congestion hotspots </a:t>
            </a:r>
            <a:r>
              <a:rPr lang="en-US" b="0" i="1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before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they form, not after traffic builds up.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Agentic AI orchestration: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Multiple 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Watsonx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agents don’t just analyze data—they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coordinate decisions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like rerouting and signal optimization.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Multi-source intelligence fusion: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Combines traffic sensors, GPS feeds, weather, and incident reports into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one unified reasoning layer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Context-aware alerts: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Generates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clear, actionable warnings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tailored for both authorities and commuters (not generic updates).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Continuous learning: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Improves forecasts over time by learning recurring congestion patterns and sudden disruption signals.</a:t>
            </a:r>
            <a:endParaRPr/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endParaRPr lang="en-US" b="0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285750" marR="0" lvl="0" indent="-28575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End-to-end automation: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 From </a:t>
            </a:r>
            <a:r>
              <a:rPr lang="en-US" b="1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data ingestion → prediction → decision recommendation → alert delivery</a:t>
            </a:r>
            <a:r>
              <a:rPr lang="en-US" b="0" i="0" u="none" strike="noStrike" cap="none">
                <a:ln>
                  <a:noFill/>
                </a:ln>
                <a:solidFill>
                  <a:schemeClr val="tx1"/>
                </a:solidFill>
                <a:latin typeface="Arial"/>
              </a:rPr>
              <a:t>, all in one pipeline.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01738" name="TextBox 2"/>
          <p:cNvSpPr txBox="1"/>
          <p:nvPr/>
        </p:nvSpPr>
        <p:spPr bwMode="auto">
          <a:xfrm>
            <a:off x="3680408" y="874410"/>
            <a:ext cx="48311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 i="0" u="none" strike="noStrike" cap="none" spc="0">
                <a:ln>
                  <a:noFill/>
                </a:ln>
                <a:solidFill>
                  <a:srgbClr val="000000"/>
                </a:solidFill>
                <a:latin typeface="Arial"/>
                <a:ea typeface="Calibri"/>
                <a:cs typeface="Calibri"/>
              </a:rPr>
              <a:t>TECHNICAL FLOW DIAGRAM</a:t>
            </a:r>
            <a:endParaRPr lang="en-US" sz="2400" b="1"/>
          </a:p>
        </p:txBody>
      </p:sp>
      <p:pic>
        <p:nvPicPr>
          <p:cNvPr id="606897957" name="Picture 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7138" y="1669979"/>
            <a:ext cx="7450239" cy="40670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622625" name="TextBox 2"/>
          <p:cNvSpPr txBox="1"/>
          <p:nvPr/>
        </p:nvSpPr>
        <p:spPr bwMode="auto">
          <a:xfrm>
            <a:off x="3680408" y="874410"/>
            <a:ext cx="48311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LANGFLOW COMPONENTS</a:t>
            </a:r>
            <a:endParaRPr/>
          </a:p>
        </p:txBody>
      </p:sp>
      <p:sp>
        <p:nvSpPr>
          <p:cNvPr id="1822051512" name="TextBox 1"/>
          <p:cNvSpPr txBox="1"/>
          <p:nvPr/>
        </p:nvSpPr>
        <p:spPr bwMode="auto">
          <a:xfrm>
            <a:off x="1485776" y="1708557"/>
            <a:ext cx="761695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b="1"/>
              <a:t>1.   Chat Input</a:t>
            </a:r>
            <a:endParaRPr/>
          </a:p>
          <a:p>
            <a:pPr marL="285750" lvl="2" indent="-285750">
              <a:buFont typeface="Arial"/>
              <a:buChar char="•"/>
              <a:defRPr/>
            </a:pPr>
            <a:r>
              <a:rPr lang="en-US"/>
              <a:t>Takes user query as input</a:t>
            </a:r>
            <a:endParaRPr/>
          </a:p>
          <a:p>
            <a:pPr marL="285750" lvl="2" indent="-285750">
              <a:buFont typeface="Arial"/>
              <a:buChar char="•"/>
              <a:defRPr/>
            </a:pPr>
            <a:r>
              <a:rPr lang="en-US"/>
              <a:t>Starts the flow</a:t>
            </a:r>
            <a:endParaRPr/>
          </a:p>
          <a:p>
            <a:pPr marL="285750" lvl="2" indent="-285750">
              <a:buFont typeface="Arial"/>
              <a:buChar char="•"/>
              <a:defRPr/>
            </a:pPr>
            <a:r>
              <a:rPr lang="en-US"/>
              <a:t>Example: “Traffic in Koramangala at 9 PM?”</a:t>
            </a:r>
            <a:endParaRPr/>
          </a:p>
          <a:p>
            <a:pPr marL="285750" lvl="1" indent="-285750">
              <a:buFont typeface="Arial"/>
              <a:buChar char="•"/>
              <a:defRPr/>
            </a:pPr>
            <a:endParaRPr lang="en-US"/>
          </a:p>
          <a:p>
            <a:pPr>
              <a:defRPr/>
            </a:pPr>
            <a:r>
              <a:rPr lang="en-US" b="1"/>
              <a:t>2.    IBM </a:t>
            </a:r>
            <a:r>
              <a:rPr lang="en-US" b="1"/>
              <a:t>watsonx</a:t>
            </a:r>
            <a:r>
              <a:rPr lang="en-US" b="1"/>
              <a:t> AI Agent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Main AI brain of the system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Understands location + time from query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Predicts congestion/hotspots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Suggests actions (reroute / signal control)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endParaRPr lang="en-US"/>
          </a:p>
          <a:p>
            <a:pPr>
              <a:defRPr/>
            </a:pPr>
            <a:r>
              <a:rPr lang="en-US" b="1"/>
              <a:t>3.    File Component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Uploads traffic dataset (CSV)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Provides historical data for prediction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Helps improve accuracy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9170782" name="TextBox 2"/>
          <p:cNvSpPr txBox="1"/>
          <p:nvPr/>
        </p:nvSpPr>
        <p:spPr bwMode="auto">
          <a:xfrm>
            <a:off x="3172475" y="874410"/>
            <a:ext cx="584705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LANGFLOW COMPONENTS (contd.)</a:t>
            </a:r>
            <a:endParaRPr/>
          </a:p>
        </p:txBody>
      </p:sp>
      <p:sp>
        <p:nvSpPr>
          <p:cNvPr id="2030755147" name="TextBox 1"/>
          <p:cNvSpPr txBox="1"/>
          <p:nvPr/>
        </p:nvSpPr>
        <p:spPr bwMode="auto">
          <a:xfrm>
            <a:off x="1485776" y="1708557"/>
            <a:ext cx="761695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4"/>
              <a:defRPr/>
            </a:pPr>
            <a:r>
              <a:rPr lang="en-US" b="1"/>
              <a:t>Chat Output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Shows final answer to the user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Gives warnings + predictions clearly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endParaRPr lang="en-US"/>
          </a:p>
          <a:p>
            <a:pPr marL="342900" indent="-342900">
              <a:buFont typeface="+mj-lt"/>
              <a:buAutoNum type="arabicPeriod" startAt="4"/>
              <a:defRPr/>
            </a:pPr>
            <a:r>
              <a:rPr lang="en-US" b="1"/>
              <a:t>Prompt / System Prompt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Defines agent role and rules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Makes output clear and consistent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endParaRPr lang="en-US"/>
          </a:p>
          <a:p>
            <a:pPr marL="342900" indent="-342900">
              <a:buFont typeface="+mj-lt"/>
              <a:buAutoNum type="arabicPeriod" startAt="4"/>
              <a:defRPr/>
            </a:pPr>
            <a:r>
              <a:rPr lang="en-US" b="1"/>
              <a:t>CSV Loader / Parser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Reads CSV properly into usable format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Extracts columns like Date, Area, Traffic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endParaRPr lang="en-US"/>
          </a:p>
          <a:p>
            <a:pPr marL="342900" indent="-342900">
              <a:buFont typeface="+mj-lt"/>
              <a:buAutoNum type="arabicPeriod" startAt="4"/>
              <a:defRPr/>
            </a:pPr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</a:rPr>
              <a:t>Memory (Optional)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Remembers chat context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Helps follow-up questions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86401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LANGFLOW NETWORK</a:t>
            </a:r>
            <a:endParaRPr/>
          </a:p>
        </p:txBody>
      </p:sp>
      <p:pic>
        <p:nvPicPr>
          <p:cNvPr id="746002149" name="Picture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82763" y="1623558"/>
            <a:ext cx="6826473" cy="43600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317000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CHAT PROMPT 1</a:t>
            </a:r>
            <a:endParaRPr/>
          </a:p>
        </p:txBody>
      </p:sp>
      <p:pic>
        <p:nvPicPr>
          <p:cNvPr id="1152761302" name="Picture 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73790" y="1662887"/>
            <a:ext cx="7844419" cy="4059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983920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CHAT PROMPT 2</a:t>
            </a:r>
            <a:endParaRPr/>
          </a:p>
        </p:txBody>
      </p:sp>
      <p:pic>
        <p:nvPicPr>
          <p:cNvPr id="1301277681" name="Pictur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73791" y="1662887"/>
            <a:ext cx="7844417" cy="40594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170441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CHAT PROMPT 3</a:t>
            </a:r>
            <a:endParaRPr/>
          </a:p>
        </p:txBody>
      </p:sp>
      <p:pic>
        <p:nvPicPr>
          <p:cNvPr id="1056941241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73790" y="1662887"/>
            <a:ext cx="7844419" cy="40447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179868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FUTURE SCOPE</a:t>
            </a:r>
            <a:endParaRPr/>
          </a:p>
        </p:txBody>
      </p:sp>
      <p:sp>
        <p:nvSpPr>
          <p:cNvPr id="390170873" name="Rectangle 2"/>
          <p:cNvSpPr>
            <a:spLocks noChangeArrowheads="1"/>
          </p:cNvSpPr>
          <p:nvPr/>
        </p:nvSpPr>
        <p:spPr bwMode="auto">
          <a:xfrm>
            <a:off x="1485776" y="1708557"/>
            <a:ext cx="7616952" cy="31085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/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 b="1"/>
              <a:t>Integration with adaptive traffic signals:</a:t>
            </a:r>
            <a:r>
              <a:rPr lang="en-US"/>
              <a:t> Automatically change signal timings in real-time based on predicted congestion.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AI-driven route recommendations:</a:t>
            </a:r>
            <a:r>
              <a:rPr lang="en-US"/>
              <a:t> Provide personalized alternate routes for commuters and fleets.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Incident detection + response automation:</a:t>
            </a:r>
            <a:r>
              <a:rPr lang="en-US"/>
              <a:t> Detect accidents/breakdowns early and trigger emergency/diversion workflows.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Multi-city scalability:</a:t>
            </a:r>
            <a:r>
              <a:rPr lang="en-US"/>
              <a:t> Expand the system to support multiple cities with region-specific traffic patterns.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Public transport optimization:</a:t>
            </a:r>
            <a:r>
              <a:rPr lang="en-US"/>
              <a:t> Predict bus delays, improve scheduling, and suggest dynamic route adjustments.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207893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FUTURE SCOPE (contd.)</a:t>
            </a:r>
            <a:endParaRPr/>
          </a:p>
        </p:txBody>
      </p:sp>
      <p:sp>
        <p:nvSpPr>
          <p:cNvPr id="1561226274" name="Rectangle 2"/>
          <p:cNvSpPr>
            <a:spLocks noChangeArrowheads="1"/>
          </p:cNvSpPr>
          <p:nvPr/>
        </p:nvSpPr>
        <p:spPr bwMode="auto">
          <a:xfrm>
            <a:off x="1485776" y="1708557"/>
            <a:ext cx="7616952" cy="246221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/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 b="1"/>
              <a:t>Event-based congestion control:</a:t>
            </a:r>
            <a:r>
              <a:rPr lang="en-US"/>
              <a:t> Forecast traffic surges during festivals, concerts, sports events, or peak hours.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Smart parking guidance:</a:t>
            </a:r>
            <a:r>
              <a:rPr lang="en-US"/>
              <a:t> Predict parking demand and guide vehicles to available parking to reduce road clogging.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Environment &amp; sustainability insights:</a:t>
            </a:r>
            <a:r>
              <a:rPr lang="en-US"/>
              <a:t> Track emission reduction and fuel savings from congestion prevention.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endParaRPr lang="en-US"/>
          </a:p>
          <a:p>
            <a:pPr marL="285750" indent="-285750">
              <a:buFont typeface="Arial"/>
              <a:buChar char="•"/>
              <a:defRPr/>
            </a:pPr>
            <a:r>
              <a:rPr lang="en-US" b="1"/>
              <a:t>V2X readiness:</a:t>
            </a:r>
            <a:r>
              <a:rPr lang="en-US"/>
              <a:t> Future integration with connected vehicles (vehicle-to-infrastructure communication).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132197" name="TextBox 2"/>
          <p:cNvSpPr txBox="1"/>
          <p:nvPr/>
        </p:nvSpPr>
        <p:spPr bwMode="auto">
          <a:xfrm>
            <a:off x="3968688" y="874410"/>
            <a:ext cx="4254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400" b="1"/>
              <a:t>GITHUB LINK</a:t>
            </a:r>
            <a:endParaRPr/>
          </a:p>
        </p:txBody>
      </p:sp>
      <p:sp>
        <p:nvSpPr>
          <p:cNvPr id="148269895" name="Rectangle 2"/>
          <p:cNvSpPr>
            <a:spLocks noChangeArrowheads="1"/>
          </p:cNvSpPr>
          <p:nvPr/>
        </p:nvSpPr>
        <p:spPr bwMode="auto">
          <a:xfrm>
            <a:off x="1499807" y="1708556"/>
            <a:ext cx="9194543" cy="42707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/>
            <a:spAutoFit/>
          </a:bodyPr>
          <a:lstStyle/>
          <a:p>
            <a:pPr algn="ctr"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https://github.com/DevelSSN/ibm-hackathon-project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5191" name="Google Shape;18;p23"/>
          <p:cNvSpPr txBox="1">
            <a:spLocks noGrp="1"/>
          </p:cNvSpPr>
          <p:nvPr>
            <p:ph type="title"/>
          </p:nvPr>
        </p:nvSpPr>
        <p:spPr bwMode="auto">
          <a:xfrm>
            <a:off x="838199" y="365124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/>
              <a:t>References</a:t>
            </a:r>
            <a:endParaRPr/>
          </a:p>
        </p:txBody>
      </p:sp>
      <p:sp>
        <p:nvSpPr>
          <p:cNvPr id="698895028" name="Google Shape;19;p23"/>
          <p:cNvSpPr txBox="1">
            <a:spLocks noGrp="1"/>
          </p:cNvSpPr>
          <p:nvPr>
            <p:ph type="body" idx="1"/>
          </p:nvPr>
        </p:nvSpPr>
        <p:spPr bwMode="auto">
          <a:xfrm>
            <a:off x="838199" y="1825624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lvl="0" indent="-3429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r>
              <a:rPr/>
              <a:t>Langflow docs - </a:t>
            </a:r>
            <a:r>
              <a:rPr lang="en-US" sz="2800" b="0" i="0" u="sng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  <a:hlinkClick r:id="rId3" tooltip=""/>
              </a:rPr>
              <a:t>https://docs.datastax.com/en/langflow/index.html</a:t>
            </a:r>
            <a:endParaRPr lang="en-US" sz="28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Langchain docs - </a:t>
            </a:r>
            <a:r>
              <a:rPr lang="en-US" sz="2800" b="0" i="0" u="sng" strike="noStrike" cap="none" spc="0">
                <a:solidFill>
                  <a:schemeClr val="dk1"/>
                </a:solidFill>
                <a:latin typeface="Calibri"/>
                <a:ea typeface="Calibri"/>
                <a:cs typeface="Calibri"/>
                <a:hlinkClick r:id="rId4" tooltip=""/>
              </a:rPr>
              <a:t>https://docs.langchain.com/</a:t>
            </a:r>
            <a:endParaRPr lang="en-US" sz="2800" b="0" i="0" u="none" strike="noStrike" cap="none" spc="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58859774" name="Google Shape;310;p20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/>
  <cp:revision>160</cp:revision>
  <dcterms:created xsi:type="dcterms:W3CDTF">2025-07-08T05:06:56Z</dcterms:created>
  <dcterms:modified xsi:type="dcterms:W3CDTF">2026-01-30T04:02:13Z</dcterms:modified>
</cp:coreProperties>
</file>